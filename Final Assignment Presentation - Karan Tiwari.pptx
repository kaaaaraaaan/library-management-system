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Outfit" panose="020B0604020202020204" charset="0"/>
      <p:regular r:id="rId13"/>
      <p:bold r:id="rId14"/>
    </p:embeddedFont>
    <p:embeddedFont>
      <p:font typeface="Outfit ExtraBold" panose="020B0604020202020204" charset="0"/>
      <p:bold r:id="rId15"/>
    </p:embeddedFont>
    <p:embeddedFont>
      <p:font typeface="Plus Jakarta Sans" panose="020B0604020202020204" charset="0"/>
      <p:regular r:id="rId16"/>
      <p:bold r:id="rId17"/>
      <p:italic r:id="rId18"/>
      <p:boldItalic r:id="rId19"/>
    </p:embeddedFont>
    <p:embeddedFont>
      <p:font typeface="Plus Jakarta Sans ExtraBold" panose="020B0604020202020204" charset="0"/>
      <p:bold r:id="rId20"/>
      <p:boldItalic r:id="rId21"/>
    </p:embeddedFont>
    <p:embeddedFont>
      <p:font typeface="Plus Jakarta Sans Medium" panose="020B0604020202020204" charset="0"/>
      <p:regular r:id="rId22"/>
      <p:bold r:id="rId23"/>
      <p:italic r:id="rId24"/>
      <p:boldItalic r:id="rId25"/>
    </p:embeddedFont>
    <p:embeddedFont>
      <p:font typeface="Plus Jakarta Sans SemiBold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0A3FF8-9BF1-4F01-A221-62A787BBE40C}">
  <a:tblStyle styleId="{5D0A3FF8-9BF1-4F01-A221-62A787BBE40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8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9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8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8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18" Type="http://schemas.openxmlformats.org/officeDocument/2006/relationships/image" Target="../media/image38.png"/><Relationship Id="rId3" Type="http://schemas.openxmlformats.org/officeDocument/2006/relationships/image" Target="../media/image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71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19" Type="http://schemas.openxmlformats.org/officeDocument/2006/relationships/image" Target="../media/image41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81450" y="3710880"/>
            <a:ext cx="42291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52900" y="4701480"/>
            <a:ext cx="38862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19575" y="3853755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810125" y="4901505"/>
            <a:ext cx="11144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Karan Tiwari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477000" y="4901505"/>
            <a:ext cx="11715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August 2026</a:t>
            </a:r>
            <a:endParaRPr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43425" y="494913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10300" y="494913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14825" y="1470719"/>
            <a:ext cx="35623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1380410" y="2127944"/>
            <a:ext cx="9431178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Library Management System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3328987" y="3110805"/>
            <a:ext cx="55340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Advance Java Programming (MCS-313) Final Assignment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62762" y="1362075"/>
            <a:ext cx="4757737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5775"/>
            <a:ext cx="528637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/>
          <p:nvPr/>
        </p:nvSpPr>
        <p:spPr>
          <a:xfrm>
            <a:off x="571500" y="1995487"/>
            <a:ext cx="5815012" cy="1000125"/>
          </a:xfrm>
          <a:prstGeom prst="roundRect">
            <a:avLst>
              <a:gd name="adj" fmla="val 11428"/>
            </a:avLst>
          </a:prstGeom>
          <a:solidFill>
            <a:srgbClr val="FEF2F2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466850" y="2185987"/>
            <a:ext cx="469106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 Operations: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Handling catalogs, members, and book loans manually is slow and error-prone.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2986087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571500" y="1995487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571500" y="1995487"/>
            <a:ext cx="57150" cy="100012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6376987" y="1995487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571500" y="3148012"/>
            <a:ext cx="5815012" cy="1000125"/>
          </a:xfrm>
          <a:prstGeom prst="roundRect">
            <a:avLst>
              <a:gd name="adj" fmla="val 11428"/>
            </a:avLst>
          </a:prstGeom>
          <a:solidFill>
            <a:srgbClr val="FEF2F2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1466850" y="3338512"/>
            <a:ext cx="469106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Tracking Failures: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Librarians struggle to track overdue books and generate accurate data reports.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571500" y="4138612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571500" y="3148012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571500" y="3148012"/>
            <a:ext cx="57150" cy="100012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376987" y="3148012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571500" y="4300537"/>
            <a:ext cx="5815012" cy="1000125"/>
          </a:xfrm>
          <a:prstGeom prst="roundRect">
            <a:avLst>
              <a:gd name="adj" fmla="val 11428"/>
            </a:avLst>
          </a:prstGeom>
          <a:solidFill>
            <a:srgbClr val="FEF2F2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1466850" y="4491037"/>
            <a:ext cx="469106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Poor Experience: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Lack of automation leads to lost inventory, delayed alerts, and frustrated members.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571500" y="5291137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571500" y="4300537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571500" y="4300537"/>
            <a:ext cx="57150" cy="100012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6376987" y="4300537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62762" y="1362075"/>
            <a:ext cx="4757737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571500" y="2986087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571500" y="4138612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571500" y="5291137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3717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7250" y="35242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7250" y="467677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 txBox="1"/>
          <p:nvPr/>
        </p:nvSpPr>
        <p:spPr>
          <a:xfrm>
            <a:off x="1252537" y="476250"/>
            <a:ext cx="1088636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1E1B4B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Overview: The Problem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5775"/>
            <a:ext cx="528637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/>
          <p:nvPr/>
        </p:nvSpPr>
        <p:spPr>
          <a:xfrm>
            <a:off x="1333500" y="1362075"/>
            <a:ext cx="9525000" cy="1000125"/>
          </a:xfrm>
          <a:prstGeom prst="roundRect">
            <a:avLst>
              <a:gd name="adj" fmla="val 11428"/>
            </a:avLst>
          </a:prstGeom>
          <a:solidFill>
            <a:srgbClr val="ECFDF5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2200275" y="1552575"/>
            <a:ext cx="84296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 Operations: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Streamline daily tasks including catalog management and circulation workflows.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1333500" y="2352675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1333500" y="1362075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1333500" y="1362075"/>
            <a:ext cx="57150" cy="1000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10848975" y="1362075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1333500" y="2514600"/>
            <a:ext cx="9525000" cy="1000125"/>
          </a:xfrm>
          <a:prstGeom prst="roundRect">
            <a:avLst>
              <a:gd name="adj" fmla="val 11428"/>
            </a:avLst>
          </a:prstGeom>
          <a:solidFill>
            <a:srgbClr val="ECFDF5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2228850" y="2705100"/>
            <a:ext cx="84010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Secure Access: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Implement a strict, role-based system for Administrators, Librarians, and Members.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1333500" y="3505200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1333500" y="2514600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1333500" y="2514600"/>
            <a:ext cx="57150" cy="1000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10848975" y="2514600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1333500" y="3667125"/>
            <a:ext cx="9525000" cy="1000125"/>
          </a:xfrm>
          <a:prstGeom prst="roundRect">
            <a:avLst>
              <a:gd name="adj" fmla="val 11428"/>
            </a:avLst>
          </a:prstGeom>
          <a:solidFill>
            <a:srgbClr val="ECFDF5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2200275" y="3857625"/>
            <a:ext cx="84296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 Tracking: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Implement automated tracking for book loans and overdue email notifications.</a:t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1333500" y="4657725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1333500" y="3667125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1333500" y="3667125"/>
            <a:ext cx="57150" cy="1000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10848975" y="3667125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1333500" y="4819650"/>
            <a:ext cx="9525000" cy="714375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2257425" y="5010150"/>
            <a:ext cx="83724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Analysis: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Generate exportable PDF and CSV reports for administrative review.</a:t>
            </a: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1333500" y="5524500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1333500" y="4819650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1333500" y="4819650"/>
            <a:ext cx="57150" cy="7143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10848975" y="4819650"/>
            <a:ext cx="9525" cy="7143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1333500" y="5686425"/>
            <a:ext cx="9525000" cy="714375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2200275" y="5876925"/>
            <a:ext cx="84296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Integrity: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Maintain a strict activity audit log and provide a clean frontend interface.</a:t>
            </a: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1333500" y="6391275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1333500" y="5686425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1333500" y="5686425"/>
            <a:ext cx="57150" cy="7143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10848975" y="5686425"/>
            <a:ext cx="9525" cy="7143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1333500" y="2352675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1333500" y="3505200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1333500" y="4657725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1333500" y="5524500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1333500" y="6391275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9250" y="17383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19250" y="28908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9250" y="40433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19250" y="505301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19250" y="591978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5"/>
          <p:cNvSpPr txBox="1"/>
          <p:nvPr/>
        </p:nvSpPr>
        <p:spPr>
          <a:xfrm>
            <a:off x="1252537" y="476250"/>
            <a:ext cx="1088636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1E1B4B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Overview: Project Objectives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62762" y="1362075"/>
            <a:ext cx="4757737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5775"/>
            <a:ext cx="566737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6"/>
          <p:cNvSpPr/>
          <p:nvPr/>
        </p:nvSpPr>
        <p:spPr>
          <a:xfrm>
            <a:off x="571500" y="1419225"/>
            <a:ext cx="5815012" cy="1000125"/>
          </a:xfrm>
          <a:prstGeom prst="roundRect">
            <a:avLst>
              <a:gd name="adj" fmla="val 11428"/>
            </a:avLst>
          </a:prstGeom>
          <a:solidFill>
            <a:srgbClr val="EFF6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1409700" y="1609725"/>
            <a:ext cx="474821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Presentation Layer: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HTML &amp; TailwindCSS frontend interacting via REST APIs (JSON).</a:t>
            </a: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571500" y="2409825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571500" y="1419225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571500" y="1419225"/>
            <a:ext cx="57150" cy="1000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6376987" y="1419225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/>
          <p:nvPr/>
        </p:nvSpPr>
        <p:spPr>
          <a:xfrm>
            <a:off x="571500" y="2571750"/>
            <a:ext cx="5815012" cy="1000125"/>
          </a:xfrm>
          <a:prstGeom prst="roundRect">
            <a:avLst>
              <a:gd name="adj" fmla="val 11428"/>
            </a:avLst>
          </a:prstGeom>
          <a:solidFill>
            <a:srgbClr val="EFF6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1524000" y="2762250"/>
            <a:ext cx="463391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Controller Layer: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en-US" sz="1500" b="0" i="0" u="none" strike="noStrike" cap="none">
                <a:solidFill>
                  <a:srgbClr val="EA2D2E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Spring MVC</a:t>
            </a:r>
            <a:r>
              <a:rPr lang="en-US" sz="15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REST Controllers handle HTTP requests and validation.</a:t>
            </a:r>
            <a:endParaRPr/>
          </a:p>
        </p:txBody>
      </p:sp>
      <p:sp>
        <p:nvSpPr>
          <p:cNvPr id="190" name="Google Shape;190;p16"/>
          <p:cNvSpPr/>
          <p:nvPr/>
        </p:nvSpPr>
        <p:spPr>
          <a:xfrm>
            <a:off x="571500" y="3562350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571500" y="2571750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/>
          <p:nvPr/>
        </p:nvSpPr>
        <p:spPr>
          <a:xfrm>
            <a:off x="571500" y="2571750"/>
            <a:ext cx="57150" cy="1000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6376987" y="2571750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571500" y="3724275"/>
            <a:ext cx="5815012" cy="1000125"/>
          </a:xfrm>
          <a:prstGeom prst="roundRect">
            <a:avLst>
              <a:gd name="adj" fmla="val 11428"/>
            </a:avLst>
          </a:prstGeom>
          <a:solidFill>
            <a:srgbClr val="EFF6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6"/>
          <p:cNvSpPr txBox="1"/>
          <p:nvPr/>
        </p:nvSpPr>
        <p:spPr>
          <a:xfrm>
            <a:off x="1524000" y="3914775"/>
            <a:ext cx="463391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 Layer: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Contains core </a:t>
            </a:r>
            <a:r>
              <a:rPr lang="en-US" sz="1500" b="0" i="0" u="none" strike="noStrike" cap="none">
                <a:solidFill>
                  <a:srgbClr val="EA2D2E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Java</a:t>
            </a:r>
            <a:r>
              <a:rPr lang="en-US" sz="15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business logic and transaction management.</a:t>
            </a:r>
            <a:endParaRPr/>
          </a:p>
        </p:txBody>
      </p:sp>
      <p:sp>
        <p:nvSpPr>
          <p:cNvPr id="196" name="Google Shape;196;p16"/>
          <p:cNvSpPr/>
          <p:nvPr/>
        </p:nvSpPr>
        <p:spPr>
          <a:xfrm>
            <a:off x="571500" y="4714875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/>
          <p:nvPr/>
        </p:nvSpPr>
        <p:spPr>
          <a:xfrm>
            <a:off x="571500" y="3724275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571500" y="3724275"/>
            <a:ext cx="57150" cy="1000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/>
          <p:nvPr/>
        </p:nvSpPr>
        <p:spPr>
          <a:xfrm>
            <a:off x="6376987" y="3724275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571500" y="4876800"/>
            <a:ext cx="5815012" cy="1000125"/>
          </a:xfrm>
          <a:prstGeom prst="roundRect">
            <a:avLst>
              <a:gd name="adj" fmla="val 11428"/>
            </a:avLst>
          </a:prstGeom>
          <a:solidFill>
            <a:srgbClr val="EFF6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 txBox="1"/>
          <p:nvPr/>
        </p:nvSpPr>
        <p:spPr>
          <a:xfrm>
            <a:off x="1466850" y="5067300"/>
            <a:ext cx="469106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Access Layer: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en-US" sz="1500" b="0" i="0" u="none" strike="noStrike" cap="none">
                <a:solidFill>
                  <a:srgbClr val="EA2D2E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Spring Data JPA</a:t>
            </a:r>
            <a:r>
              <a:rPr lang="en-US" sz="15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repositories interfacing with the relational database.</a:t>
            </a:r>
            <a:endParaRPr/>
          </a:p>
        </p:txBody>
      </p:sp>
      <p:sp>
        <p:nvSpPr>
          <p:cNvPr id="202" name="Google Shape;202;p16"/>
          <p:cNvSpPr/>
          <p:nvPr/>
        </p:nvSpPr>
        <p:spPr>
          <a:xfrm>
            <a:off x="571500" y="5867400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6"/>
          <p:cNvSpPr/>
          <p:nvPr/>
        </p:nvSpPr>
        <p:spPr>
          <a:xfrm>
            <a:off x="571500" y="4876800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/>
          <p:nvPr/>
        </p:nvSpPr>
        <p:spPr>
          <a:xfrm>
            <a:off x="571500" y="4876800"/>
            <a:ext cx="57150" cy="1000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6376987" y="4876800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16" title="Gemini_Generated_Image_9ncxc99ncxc99ncx.jpeg"/>
          <p:cNvPicPr preferRelativeResize="0"/>
          <p:nvPr/>
        </p:nvPicPr>
        <p:blipFill rotWithShape="1">
          <a:blip r:embed="rId6">
            <a:alphaModFix/>
          </a:blip>
          <a:srcRect t="1951" b="1951"/>
          <a:stretch/>
        </p:blipFill>
        <p:spPr>
          <a:xfrm>
            <a:off x="6862762" y="1362075"/>
            <a:ext cx="4757740" cy="4572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6"/>
          <p:cNvSpPr/>
          <p:nvPr/>
        </p:nvSpPr>
        <p:spPr>
          <a:xfrm>
            <a:off x="571500" y="2409825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571500" y="3562350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571500" y="4714875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571500" y="5867400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1800225"/>
            <a:ext cx="1714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7250" y="29479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7250" y="410051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7250" y="525303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6"/>
          <p:cNvSpPr txBox="1"/>
          <p:nvPr/>
        </p:nvSpPr>
        <p:spPr>
          <a:xfrm>
            <a:off x="1290637" y="476250"/>
            <a:ext cx="1084635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1E1B4B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Spring Boot Architecture Design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62075"/>
            <a:ext cx="11049000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5775"/>
            <a:ext cx="528637" cy="533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3" name="Google Shape;223;p17"/>
          <p:cNvGraphicFramePr/>
          <p:nvPr/>
        </p:nvGraphicFramePr>
        <p:xfrm>
          <a:off x="581025" y="1371600"/>
          <a:ext cx="11029925" cy="4009975"/>
        </p:xfrm>
        <a:graphic>
          <a:graphicData uri="http://schemas.openxmlformats.org/drawingml/2006/table">
            <a:tbl>
              <a:tblPr firstRow="1" bandRow="1">
                <a:noFill/>
                <a:tableStyleId>{5D0A3FF8-9BF1-4F01-A221-62A787BBE40C}</a:tableStyleId>
              </a:tblPr>
              <a:tblGrid>
                <a:gridCol w="275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2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Entity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Attributes &amp; Relationships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USER / ROLE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PK: id username, password, email, fullName </a:t>
                      </a:r>
                      <a:r>
                        <a:rPr lang="en-US" sz="1350" b="1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|</a:t>
                      </a: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role_name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MEMBER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PK: id email, fullName, phone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BOOK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PK: id title, isbn, publicationYear FK: author_id FK: category_id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AUTHOR / CATEGORY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PK: id name, bio </a:t>
                      </a:r>
                      <a:r>
                        <a:rPr lang="en-US" sz="1350" b="1" i="0" u="none" strike="noStrike" cap="non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|</a:t>
                      </a: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name, 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2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LOAN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PK: id loanDate, dueDate, status FK: book_id FK: member_id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2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AUDIT_LOG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PK: id action, username, timestamp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4" name="Google Shape;224;p17"/>
          <p:cNvSpPr/>
          <p:nvPr/>
        </p:nvSpPr>
        <p:spPr>
          <a:xfrm>
            <a:off x="581025" y="1924050"/>
            <a:ext cx="275748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3338512" y="1924050"/>
            <a:ext cx="827246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581025" y="250983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3338512" y="2509837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581025" y="308133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3338512" y="3081337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581025" y="365283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3338512" y="3652837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581025" y="422433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/>
          <p:nvPr/>
        </p:nvSpPr>
        <p:spPr>
          <a:xfrm>
            <a:off x="3338512" y="4224337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581025" y="479583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3338512" y="4795837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581025" y="536733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3338512" y="5367337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7"/>
          <p:cNvSpPr txBox="1"/>
          <p:nvPr/>
        </p:nvSpPr>
        <p:spPr>
          <a:xfrm>
            <a:off x="1252537" y="476250"/>
            <a:ext cx="1088636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1E1B4B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Database Design (Normalized Schema)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62075"/>
            <a:ext cx="3492400" cy="3662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362075"/>
            <a:ext cx="3492549" cy="3662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1362075"/>
            <a:ext cx="3492400" cy="3662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85775"/>
            <a:ext cx="566737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17049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8"/>
          <p:cNvSpPr txBox="1"/>
          <p:nvPr/>
        </p:nvSpPr>
        <p:spPr>
          <a:xfrm>
            <a:off x="1438275" y="1785937"/>
            <a:ext cx="203025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Catalog &amp; Access</a:t>
            </a:r>
            <a:endParaRPr/>
          </a:p>
        </p:txBody>
      </p:sp>
      <p:sp>
        <p:nvSpPr>
          <p:cNvPr id="260" name="Google Shape;260;p18"/>
          <p:cNvSpPr txBox="1"/>
          <p:nvPr/>
        </p:nvSpPr>
        <p:spPr>
          <a:xfrm>
            <a:off x="1085850" y="2533650"/>
            <a:ext cx="273040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Full CRUD: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Manage Books, Authors, Categories, and Members.</a:t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1085850" y="3367682"/>
            <a:ext cx="27304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Advanced Search: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Pagination &amp; </a:t>
            </a:r>
            <a:r>
              <a:rPr lang="en-US" sz="1350" b="0" i="0" u="none" strike="noStrike" cap="none">
                <a:solidFill>
                  <a:srgbClr val="EA2D2E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Spring Data</a:t>
            </a: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filtering.</a:t>
            </a:r>
            <a:endParaRPr/>
          </a:p>
        </p:txBody>
      </p:sp>
      <p:sp>
        <p:nvSpPr>
          <p:cNvPr id="262" name="Google Shape;262;p18"/>
          <p:cNvSpPr txBox="1"/>
          <p:nvPr/>
        </p:nvSpPr>
        <p:spPr>
          <a:xfrm>
            <a:off x="1085850" y="3961804"/>
            <a:ext cx="273040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Security: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JWT-based login with </a:t>
            </a:r>
            <a:r>
              <a:rPr lang="en-US" sz="1350" b="0" i="0" u="none" strike="noStrike" cap="none">
                <a:solidFill>
                  <a:srgbClr val="EA2D2E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Spring Security</a:t>
            </a: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Role-Based Access.</a:t>
            </a:r>
            <a:endParaRPr/>
          </a:p>
        </p:txBody>
      </p:sp>
      <p:pic>
        <p:nvPicPr>
          <p:cNvPr id="263" name="Google Shape;263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97300" y="17049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8"/>
          <p:cNvSpPr txBox="1"/>
          <p:nvPr/>
        </p:nvSpPr>
        <p:spPr>
          <a:xfrm>
            <a:off x="5216425" y="1785937"/>
            <a:ext cx="132016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9A3412"/>
                </a:solidFill>
                <a:latin typeface="Outfit"/>
                <a:ea typeface="Outfit"/>
                <a:cs typeface="Outfit"/>
                <a:sym typeface="Outfit"/>
              </a:rPr>
              <a:t>Circulation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4864000" y="2533650"/>
            <a:ext cx="2730549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Loan Management: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Accurately tracks borrowed books in real-time.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4864000" y="3367682"/>
            <a:ext cx="2730549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Scheduling: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Identifies overdue status using </a:t>
            </a:r>
            <a:r>
              <a:rPr lang="en-US" sz="1350" b="0" i="0" u="none" strike="noStrike" cap="none">
                <a:solidFill>
                  <a:srgbClr val="EA2D2E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@Scheduled</a:t>
            </a: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4864000" y="4201715"/>
            <a:ext cx="2730549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Email Alerts: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Notifies members when books are overdue.</a:t>
            </a:r>
            <a:endParaRPr/>
          </a:p>
        </p:txBody>
      </p:sp>
      <p:pic>
        <p:nvPicPr>
          <p:cNvPr id="268" name="Google Shape;268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75600" y="17049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8"/>
          <p:cNvSpPr txBox="1"/>
          <p:nvPr/>
        </p:nvSpPr>
        <p:spPr>
          <a:xfrm>
            <a:off x="8994725" y="1785937"/>
            <a:ext cx="18002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65F46"/>
                </a:solidFill>
                <a:latin typeface="Outfit"/>
                <a:ea typeface="Outfit"/>
                <a:cs typeface="Outfit"/>
                <a:sym typeface="Outfit"/>
              </a:rPr>
              <a:t>Administration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8642300" y="2533650"/>
            <a:ext cx="27304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Exporting: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Generate Loan data (PDF) and Book data (CSV).</a:t>
            </a:r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8642300" y="3127771"/>
            <a:ext cx="27304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Audit Logging: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Tracks all actions using </a:t>
            </a:r>
            <a:r>
              <a:rPr lang="en-US" sz="1350" b="0" i="0" u="none" strike="noStrike" cap="none">
                <a:solidFill>
                  <a:srgbClr val="EA2D2E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Spring AOP</a:t>
            </a: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272" name="Google Shape;272;p18"/>
          <p:cNvSpPr txBox="1"/>
          <p:nvPr/>
        </p:nvSpPr>
        <p:spPr>
          <a:xfrm>
            <a:off x="8642300" y="3721893"/>
            <a:ext cx="27304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Integrity: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Transparent tracking of librarian workflows.</a:t>
            </a:r>
            <a:endParaRPr/>
          </a:p>
        </p:txBody>
      </p:sp>
      <p:pic>
        <p:nvPicPr>
          <p:cNvPr id="273" name="Google Shape;273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04875" y="1809750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02075" y="18097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8"/>
          <p:cNvSpPr txBox="1"/>
          <p:nvPr/>
        </p:nvSpPr>
        <p:spPr>
          <a:xfrm>
            <a:off x="1290637" y="476250"/>
            <a:ext cx="1084635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1E1B4B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Features Implemented</a:t>
            </a:r>
            <a:endParaRPr/>
          </a:p>
        </p:txBody>
      </p:sp>
      <p:pic>
        <p:nvPicPr>
          <p:cNvPr id="276" name="Google Shape;276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9150" y="25527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9150" y="338673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9150" y="398085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8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597300" y="25527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8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597300" y="338673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8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597300" y="422076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8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461325" y="1809750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8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375600" y="25527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8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375600" y="314682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8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375600" y="3740943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62075"/>
            <a:ext cx="352425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1362075"/>
            <a:ext cx="352425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1362075"/>
            <a:ext cx="352425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1371600"/>
            <a:ext cx="35052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43400" y="1371600"/>
            <a:ext cx="35052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05775" y="1371600"/>
            <a:ext cx="35052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85775"/>
            <a:ext cx="604837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9" title="admin logged in.png"/>
          <p:cNvPicPr preferRelativeResize="0"/>
          <p:nvPr/>
        </p:nvPicPr>
        <p:blipFill rotWithShape="1">
          <a:blip r:embed="rId9">
            <a:alphaModFix/>
          </a:blip>
          <a:srcRect l="-1315" r="33532"/>
          <a:stretch/>
        </p:blipFill>
        <p:spPr>
          <a:xfrm>
            <a:off x="581025" y="1371600"/>
            <a:ext cx="3505199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9"/>
          <p:cNvSpPr txBox="1"/>
          <p:nvPr/>
        </p:nvSpPr>
        <p:spPr>
          <a:xfrm>
            <a:off x="693419" y="3848100"/>
            <a:ext cx="328041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Admin Dashboard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771525" y="4191000"/>
            <a:ext cx="3124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High-level overview of system metrics and recent library activity.</a:t>
            </a:r>
            <a:endParaRPr/>
          </a:p>
        </p:txBody>
      </p:sp>
      <p:pic>
        <p:nvPicPr>
          <p:cNvPr id="301" name="Google Shape;301;p19" title="librarian logged in.png"/>
          <p:cNvPicPr preferRelativeResize="0"/>
          <p:nvPr/>
        </p:nvPicPr>
        <p:blipFill rotWithShape="1">
          <a:blip r:embed="rId10">
            <a:alphaModFix/>
          </a:blip>
          <a:srcRect r="32304"/>
          <a:stretch/>
        </p:blipFill>
        <p:spPr>
          <a:xfrm>
            <a:off x="4343400" y="1371600"/>
            <a:ext cx="3505201" cy="2276474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9"/>
          <p:cNvSpPr txBox="1"/>
          <p:nvPr/>
        </p:nvSpPr>
        <p:spPr>
          <a:xfrm>
            <a:off x="4455795" y="3848100"/>
            <a:ext cx="328041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Member Catalog</a:t>
            </a:r>
            <a:endParaRPr/>
          </a:p>
        </p:txBody>
      </p:sp>
      <p:sp>
        <p:nvSpPr>
          <p:cNvPr id="303" name="Google Shape;303;p19"/>
          <p:cNvSpPr txBox="1"/>
          <p:nvPr/>
        </p:nvSpPr>
        <p:spPr>
          <a:xfrm>
            <a:off x="4533900" y="4191000"/>
            <a:ext cx="3124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Clean user view for browsing categories and tracking personal loans.</a:t>
            </a:r>
            <a:endParaRPr/>
          </a:p>
        </p:txBody>
      </p:sp>
      <p:pic>
        <p:nvPicPr>
          <p:cNvPr id="304" name="Google Shape;304;p19" title="swagger ui api.png"/>
          <p:cNvPicPr preferRelativeResize="0"/>
          <p:nvPr/>
        </p:nvPicPr>
        <p:blipFill rotWithShape="1">
          <a:blip r:embed="rId11">
            <a:alphaModFix/>
          </a:blip>
          <a:srcRect r="33382"/>
          <a:stretch/>
        </p:blipFill>
        <p:spPr>
          <a:xfrm>
            <a:off x="8105775" y="1371600"/>
            <a:ext cx="3505199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9"/>
          <p:cNvSpPr txBox="1"/>
          <p:nvPr/>
        </p:nvSpPr>
        <p:spPr>
          <a:xfrm>
            <a:off x="8218170" y="3848100"/>
            <a:ext cx="328041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API Documentation</a:t>
            </a:r>
            <a:endParaRPr/>
          </a:p>
        </p:txBody>
      </p:sp>
      <p:sp>
        <p:nvSpPr>
          <p:cNvPr id="306" name="Google Shape;306;p19"/>
          <p:cNvSpPr txBox="1"/>
          <p:nvPr/>
        </p:nvSpPr>
        <p:spPr>
          <a:xfrm>
            <a:off x="8296275" y="4191000"/>
            <a:ext cx="3124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Swagger UI interface for testing backend REST endpoints.</a:t>
            </a:r>
            <a:endParaRPr/>
          </a:p>
        </p:txBody>
      </p:sp>
      <p:sp>
        <p:nvSpPr>
          <p:cNvPr id="307" name="Google Shape;307;p19"/>
          <p:cNvSpPr txBox="1"/>
          <p:nvPr/>
        </p:nvSpPr>
        <p:spPr>
          <a:xfrm>
            <a:off x="1328737" y="476250"/>
            <a:ext cx="108063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1E1B4B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Demonstration Screenshots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5775"/>
            <a:ext cx="528637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0"/>
          <p:cNvSpPr/>
          <p:nvPr/>
        </p:nvSpPr>
        <p:spPr>
          <a:xfrm>
            <a:off x="571500" y="1790700"/>
            <a:ext cx="5815012" cy="771525"/>
          </a:xfrm>
          <a:prstGeom prst="roundRect">
            <a:avLst>
              <a:gd name="adj" fmla="val 14814"/>
            </a:avLst>
          </a:prstGeom>
          <a:solidFill>
            <a:srgbClr val="FEE2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571500" y="2714625"/>
            <a:ext cx="5815012" cy="714375"/>
          </a:xfrm>
          <a:prstGeom prst="roundRect">
            <a:avLst>
              <a:gd name="adj" fmla="val 16000"/>
            </a:avLst>
          </a:prstGeom>
          <a:solidFill>
            <a:srgbClr val="FEF2F2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1524000" y="2905125"/>
            <a:ext cx="463391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Framework: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en-US" sz="1500" b="1" i="0" u="none" strike="noStrike" cap="none">
                <a:solidFill>
                  <a:srgbClr val="EA2D2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Java 17</a:t>
            </a:r>
            <a:r>
              <a:rPr lang="en-US" sz="15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&amp; </a:t>
            </a:r>
            <a:r>
              <a:rPr lang="en-US" sz="1500" b="1" i="0" u="none" strike="noStrike" cap="none">
                <a:solidFill>
                  <a:srgbClr val="6DB3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Spring Boot 3.x</a:t>
            </a:r>
            <a:endParaRPr/>
          </a:p>
        </p:txBody>
      </p:sp>
      <p:sp>
        <p:nvSpPr>
          <p:cNvPr id="317" name="Google Shape;317;p20"/>
          <p:cNvSpPr/>
          <p:nvPr/>
        </p:nvSpPr>
        <p:spPr>
          <a:xfrm>
            <a:off x="571500" y="3419475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0"/>
          <p:cNvSpPr/>
          <p:nvPr/>
        </p:nvSpPr>
        <p:spPr>
          <a:xfrm>
            <a:off x="571500" y="2714625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571500" y="2714625"/>
            <a:ext cx="57150" cy="7143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6376987" y="2714625"/>
            <a:ext cx="9525" cy="7143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571500" y="3581400"/>
            <a:ext cx="5815012" cy="714375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0"/>
          <p:cNvSpPr txBox="1"/>
          <p:nvPr/>
        </p:nvSpPr>
        <p:spPr>
          <a:xfrm>
            <a:off x="1438275" y="3771900"/>
            <a:ext cx="471963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Database: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Spring Data JPA, Hibernate, MySQL, H2</a:t>
            </a:r>
            <a:endParaRPr/>
          </a:p>
        </p:txBody>
      </p:sp>
      <p:sp>
        <p:nvSpPr>
          <p:cNvPr id="323" name="Google Shape;323;p20"/>
          <p:cNvSpPr/>
          <p:nvPr/>
        </p:nvSpPr>
        <p:spPr>
          <a:xfrm>
            <a:off x="571500" y="4286250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571500" y="3581400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571500" y="3581400"/>
            <a:ext cx="57150" cy="7143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6376987" y="3581400"/>
            <a:ext cx="9525" cy="7143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571500" y="4448175"/>
            <a:ext cx="5815012" cy="714375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 txBox="1"/>
          <p:nvPr/>
        </p:nvSpPr>
        <p:spPr>
          <a:xfrm>
            <a:off x="1438275" y="4638675"/>
            <a:ext cx="471963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Security: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Spring Security &amp; JSON Web Tokens (JWT)</a:t>
            </a:r>
            <a:endParaRPr/>
          </a:p>
        </p:txBody>
      </p:sp>
      <p:sp>
        <p:nvSpPr>
          <p:cNvPr id="329" name="Google Shape;329;p20"/>
          <p:cNvSpPr/>
          <p:nvPr/>
        </p:nvSpPr>
        <p:spPr>
          <a:xfrm>
            <a:off x="571500" y="5153025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571500" y="4448175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571500" y="4448175"/>
            <a:ext cx="57150" cy="7143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6376987" y="4448175"/>
            <a:ext cx="9525" cy="7143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0"/>
          <p:cNvSpPr/>
          <p:nvPr/>
        </p:nvSpPr>
        <p:spPr>
          <a:xfrm>
            <a:off x="6862762" y="1362075"/>
            <a:ext cx="4757737" cy="771525"/>
          </a:xfrm>
          <a:prstGeom prst="roundRect">
            <a:avLst>
              <a:gd name="adj" fmla="val 14814"/>
            </a:avLst>
          </a:prstGeom>
          <a:solidFill>
            <a:srgbClr val="FFED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6862762" y="2286000"/>
            <a:ext cx="4757737" cy="1000125"/>
          </a:xfrm>
          <a:prstGeom prst="roundRect">
            <a:avLst>
              <a:gd name="adj" fmla="val 11428"/>
            </a:avLst>
          </a:prstGeom>
          <a:solidFill>
            <a:srgbClr val="ECFDF5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0"/>
          <p:cNvSpPr txBox="1"/>
          <p:nvPr/>
        </p:nvSpPr>
        <p:spPr>
          <a:xfrm>
            <a:off x="7786687" y="2476500"/>
            <a:ext cx="360521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UI Layer: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HTML5, Vanilla JavaScript, TailwindCSS</a:t>
            </a:r>
            <a:endParaRPr/>
          </a:p>
        </p:txBody>
      </p:sp>
      <p:sp>
        <p:nvSpPr>
          <p:cNvPr id="336" name="Google Shape;336;p20"/>
          <p:cNvSpPr/>
          <p:nvPr/>
        </p:nvSpPr>
        <p:spPr>
          <a:xfrm>
            <a:off x="6862762" y="3276600"/>
            <a:ext cx="475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/>
          <p:nvPr/>
        </p:nvSpPr>
        <p:spPr>
          <a:xfrm>
            <a:off x="6862762" y="2286000"/>
            <a:ext cx="475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6862762" y="2286000"/>
            <a:ext cx="57150" cy="1000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11610975" y="2286000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6862762" y="3438525"/>
            <a:ext cx="4757737" cy="1000125"/>
          </a:xfrm>
          <a:prstGeom prst="roundRect">
            <a:avLst>
              <a:gd name="adj" fmla="val 11428"/>
            </a:avLst>
          </a:prstGeom>
          <a:solidFill>
            <a:srgbClr val="ECFDF5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0"/>
          <p:cNvSpPr txBox="1"/>
          <p:nvPr/>
        </p:nvSpPr>
        <p:spPr>
          <a:xfrm>
            <a:off x="7758112" y="3629025"/>
            <a:ext cx="363378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Reporting: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OpenPDF (PDF Export), OpenCSV (CSV Export)</a:t>
            </a:r>
            <a:endParaRPr/>
          </a:p>
        </p:txBody>
      </p:sp>
      <p:sp>
        <p:nvSpPr>
          <p:cNvPr id="342" name="Google Shape;342;p20"/>
          <p:cNvSpPr/>
          <p:nvPr/>
        </p:nvSpPr>
        <p:spPr>
          <a:xfrm>
            <a:off x="6862762" y="4429125"/>
            <a:ext cx="475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0"/>
          <p:cNvSpPr/>
          <p:nvPr/>
        </p:nvSpPr>
        <p:spPr>
          <a:xfrm>
            <a:off x="6862762" y="3438525"/>
            <a:ext cx="475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6862762" y="3438525"/>
            <a:ext cx="57150" cy="1000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11610975" y="3438525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6862762" y="4591050"/>
            <a:ext cx="4757737" cy="1000125"/>
          </a:xfrm>
          <a:prstGeom prst="roundRect">
            <a:avLst>
              <a:gd name="adj" fmla="val 11428"/>
            </a:avLst>
          </a:prstGeom>
          <a:solidFill>
            <a:srgbClr val="ECFDF5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"/>
          <p:cNvSpPr txBox="1"/>
          <p:nvPr/>
        </p:nvSpPr>
        <p:spPr>
          <a:xfrm>
            <a:off x="7729537" y="4781550"/>
            <a:ext cx="366236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Tools: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Spring Mail (Emails), Swagger UI (Docs), Maven</a:t>
            </a:r>
            <a:endParaRPr/>
          </a:p>
        </p:txBody>
      </p:sp>
      <p:sp>
        <p:nvSpPr>
          <p:cNvPr id="348" name="Google Shape;348;p20"/>
          <p:cNvSpPr/>
          <p:nvPr/>
        </p:nvSpPr>
        <p:spPr>
          <a:xfrm>
            <a:off x="6862762" y="5581650"/>
            <a:ext cx="475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6862762" y="4591050"/>
            <a:ext cx="475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6862762" y="4591050"/>
            <a:ext cx="57150" cy="1000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11610975" y="4591050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571500" y="2552700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571500" y="2552700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571500" y="1790700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6376987" y="1790700"/>
            <a:ext cx="9525" cy="771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 txBox="1"/>
          <p:nvPr/>
        </p:nvSpPr>
        <p:spPr>
          <a:xfrm>
            <a:off x="2455068" y="1990725"/>
            <a:ext cx="26003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B91C1C"/>
                </a:solidFill>
                <a:latin typeface="Outfit"/>
                <a:ea typeface="Outfit"/>
                <a:cs typeface="Outfit"/>
                <a:sym typeface="Outfit"/>
              </a:rPr>
              <a:t> Java Backend Core</a:t>
            </a:r>
            <a:endParaRPr/>
          </a:p>
        </p:txBody>
      </p:sp>
      <p:sp>
        <p:nvSpPr>
          <p:cNvPr id="357" name="Google Shape;357;p20"/>
          <p:cNvSpPr/>
          <p:nvPr/>
        </p:nvSpPr>
        <p:spPr>
          <a:xfrm>
            <a:off x="571500" y="3419475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571500" y="4286250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571500" y="5153025"/>
            <a:ext cx="5815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6862762" y="2124075"/>
            <a:ext cx="475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6862762" y="2124075"/>
            <a:ext cx="475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6862762" y="1362075"/>
            <a:ext cx="475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11610975" y="1362075"/>
            <a:ext cx="9525" cy="771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0"/>
          <p:cNvSpPr txBox="1"/>
          <p:nvPr/>
        </p:nvSpPr>
        <p:spPr>
          <a:xfrm>
            <a:off x="8208168" y="1562100"/>
            <a:ext cx="262032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9A3412"/>
                </a:solidFill>
                <a:latin typeface="Outfit"/>
                <a:ea typeface="Outfit"/>
                <a:cs typeface="Outfit"/>
                <a:sym typeface="Outfit"/>
              </a:rPr>
              <a:t> Frontend &amp; Utilities</a:t>
            </a:r>
            <a:endParaRPr/>
          </a:p>
        </p:txBody>
      </p:sp>
      <p:sp>
        <p:nvSpPr>
          <p:cNvPr id="365" name="Google Shape;365;p20"/>
          <p:cNvSpPr/>
          <p:nvPr/>
        </p:nvSpPr>
        <p:spPr>
          <a:xfrm>
            <a:off x="6862762" y="3276600"/>
            <a:ext cx="475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0"/>
          <p:cNvSpPr/>
          <p:nvPr/>
        </p:nvSpPr>
        <p:spPr>
          <a:xfrm>
            <a:off x="6862762" y="4429125"/>
            <a:ext cx="475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0"/>
          <p:cNvSpPr/>
          <p:nvPr/>
        </p:nvSpPr>
        <p:spPr>
          <a:xfrm>
            <a:off x="6862762" y="5581650"/>
            <a:ext cx="4757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Google Shape;36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55068" y="206692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9479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38147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7250" y="46815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08168" y="1638300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148512" y="26622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148512" y="38147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148512" y="496728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0"/>
          <p:cNvSpPr txBox="1"/>
          <p:nvPr/>
        </p:nvSpPr>
        <p:spPr>
          <a:xfrm>
            <a:off x="1252537" y="476250"/>
            <a:ext cx="1088636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1E1B4B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Technologies Used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62075"/>
            <a:ext cx="5405437" cy="2348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1362075"/>
            <a:ext cx="5405437" cy="2348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48707"/>
            <a:ext cx="5405437" cy="2348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15062" y="3948707"/>
            <a:ext cx="5405437" cy="2348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85775"/>
            <a:ext cx="528637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9150" y="17049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1"/>
          <p:cNvSpPr txBox="1"/>
          <p:nvPr/>
        </p:nvSpPr>
        <p:spPr>
          <a:xfrm>
            <a:off x="1438275" y="1785937"/>
            <a:ext cx="222027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581C87"/>
                </a:solidFill>
                <a:latin typeface="Outfit"/>
                <a:ea typeface="Outfit"/>
                <a:cs typeface="Outfit"/>
                <a:sym typeface="Outfit"/>
              </a:rPr>
              <a:t>Mobile Application</a:t>
            </a:r>
            <a:endParaRPr/>
          </a:p>
        </p:txBody>
      </p:sp>
      <p:sp>
        <p:nvSpPr>
          <p:cNvPr id="389" name="Google Shape;389;p21"/>
          <p:cNvSpPr txBox="1"/>
          <p:nvPr/>
        </p:nvSpPr>
        <p:spPr>
          <a:xfrm>
            <a:off x="1085850" y="2533650"/>
            <a:ext cx="4643437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Develop native Android and iOS applications.</a:t>
            </a:r>
            <a:endParaRPr/>
          </a:p>
        </p:txBody>
      </p:sp>
      <p:sp>
        <p:nvSpPr>
          <p:cNvPr id="390" name="Google Shape;390;p21"/>
          <p:cNvSpPr txBox="1"/>
          <p:nvPr/>
        </p:nvSpPr>
        <p:spPr>
          <a:xfrm>
            <a:off x="1085850" y="2887860"/>
            <a:ext cx="4643437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Allow members to browse catalogs and reserve books on the go.</a:t>
            </a:r>
            <a:endParaRPr/>
          </a:p>
        </p:txBody>
      </p:sp>
      <p:pic>
        <p:nvPicPr>
          <p:cNvPr id="391" name="Google Shape;391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62712" y="17049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1"/>
          <p:cNvSpPr txBox="1"/>
          <p:nvPr/>
        </p:nvSpPr>
        <p:spPr>
          <a:xfrm>
            <a:off x="7081837" y="1785937"/>
            <a:ext cx="204025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Digital Payments</a:t>
            </a:r>
            <a:endParaRPr/>
          </a:p>
        </p:txBody>
      </p:sp>
      <p:sp>
        <p:nvSpPr>
          <p:cNvPr id="393" name="Google Shape;393;p21"/>
          <p:cNvSpPr txBox="1"/>
          <p:nvPr/>
        </p:nvSpPr>
        <p:spPr>
          <a:xfrm>
            <a:off x="6729412" y="2533650"/>
            <a:ext cx="4643437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Integrate secure payment gateways (Stripe/PayPal).</a:t>
            </a:r>
            <a:endParaRPr/>
          </a:p>
        </p:txBody>
      </p:sp>
      <p:sp>
        <p:nvSpPr>
          <p:cNvPr id="394" name="Google Shape;394;p21"/>
          <p:cNvSpPr txBox="1"/>
          <p:nvPr/>
        </p:nvSpPr>
        <p:spPr>
          <a:xfrm>
            <a:off x="6729412" y="2887860"/>
            <a:ext cx="4643437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 the collection of late fees and subscription renewals.</a:t>
            </a:r>
            <a:endParaRPr/>
          </a:p>
        </p:txBody>
      </p:sp>
      <p:pic>
        <p:nvPicPr>
          <p:cNvPr id="395" name="Google Shape;395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19150" y="429160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1"/>
          <p:cNvSpPr txBox="1"/>
          <p:nvPr/>
        </p:nvSpPr>
        <p:spPr>
          <a:xfrm>
            <a:off x="1438275" y="4372570"/>
            <a:ext cx="187023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65F46"/>
                </a:solidFill>
                <a:latin typeface="Outfit"/>
                <a:ea typeface="Outfit"/>
                <a:cs typeface="Outfit"/>
                <a:sym typeface="Outfit"/>
              </a:rPr>
              <a:t>RFID &amp; Barcode</a:t>
            </a:r>
            <a:endParaRPr/>
          </a:p>
        </p:txBody>
      </p:sp>
      <p:sp>
        <p:nvSpPr>
          <p:cNvPr id="397" name="Google Shape;397;p21"/>
          <p:cNvSpPr txBox="1"/>
          <p:nvPr/>
        </p:nvSpPr>
        <p:spPr>
          <a:xfrm>
            <a:off x="1085850" y="5120282"/>
            <a:ext cx="4643437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Integrate hardware scanners for rapid physical book checkout.</a:t>
            </a:r>
            <a:endParaRPr/>
          </a:p>
        </p:txBody>
      </p:sp>
      <p:sp>
        <p:nvSpPr>
          <p:cNvPr id="398" name="Google Shape;398;p21"/>
          <p:cNvSpPr txBox="1"/>
          <p:nvPr/>
        </p:nvSpPr>
        <p:spPr>
          <a:xfrm>
            <a:off x="1085850" y="5714404"/>
            <a:ext cx="4643437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Drastically reduce time spent at the librarian desk.</a:t>
            </a:r>
            <a:endParaRPr/>
          </a:p>
        </p:txBody>
      </p:sp>
      <p:pic>
        <p:nvPicPr>
          <p:cNvPr id="399" name="Google Shape;399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62712" y="429160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1"/>
          <p:cNvSpPr txBox="1"/>
          <p:nvPr/>
        </p:nvSpPr>
        <p:spPr>
          <a:xfrm>
            <a:off x="7081837" y="4372570"/>
            <a:ext cx="254031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9A3412"/>
                </a:solidFill>
                <a:latin typeface="Outfit"/>
                <a:ea typeface="Outfit"/>
                <a:cs typeface="Outfit"/>
                <a:sym typeface="Outfit"/>
              </a:rPr>
              <a:t>AI Recommendations</a:t>
            </a:r>
            <a:endParaRPr/>
          </a:p>
        </p:txBody>
      </p:sp>
      <p:sp>
        <p:nvSpPr>
          <p:cNvPr id="401" name="Google Shape;401;p21"/>
          <p:cNvSpPr txBox="1"/>
          <p:nvPr/>
        </p:nvSpPr>
        <p:spPr>
          <a:xfrm>
            <a:off x="6729412" y="5120282"/>
            <a:ext cx="4643437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Analyze borrowing history using machine learning.</a:t>
            </a:r>
            <a:endParaRPr/>
          </a:p>
        </p:txBody>
      </p:sp>
      <p:sp>
        <p:nvSpPr>
          <p:cNvPr id="402" name="Google Shape;402;p21"/>
          <p:cNvSpPr txBox="1"/>
          <p:nvPr/>
        </p:nvSpPr>
        <p:spPr>
          <a:xfrm>
            <a:off x="6729412" y="5474493"/>
            <a:ext cx="4643437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Suggest highly relevant books to members automatically.</a:t>
            </a:r>
            <a:endParaRPr/>
          </a:p>
        </p:txBody>
      </p:sp>
      <p:pic>
        <p:nvPicPr>
          <p:cNvPr id="403" name="Google Shape;403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57262" y="1809750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21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548437" y="1809750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1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23925" y="439638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1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567487" y="439638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1"/>
          <p:cNvSpPr txBox="1"/>
          <p:nvPr/>
        </p:nvSpPr>
        <p:spPr>
          <a:xfrm>
            <a:off x="1252537" y="476250"/>
            <a:ext cx="1088636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1E1B4B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Future Enhancements</a:t>
            </a:r>
            <a:endParaRPr/>
          </a:p>
        </p:txBody>
      </p:sp>
      <p:pic>
        <p:nvPicPr>
          <p:cNvPr id="408" name="Google Shape;408;p21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19150" y="25527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21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19150" y="290691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1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462712" y="25527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1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462712" y="290691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1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19150" y="513933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21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19150" y="573345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21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6462712" y="513933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1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6462712" y="5493543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33925"/>
            <a:ext cx="110490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0" y="9144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2"/>
          <p:cNvSpPr txBox="1"/>
          <p:nvPr/>
        </p:nvSpPr>
        <p:spPr>
          <a:xfrm>
            <a:off x="1565433" y="1962150"/>
            <a:ext cx="9061132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1B4B"/>
                </a:solidFill>
                <a:latin typeface="Outfit"/>
                <a:ea typeface="Outfit"/>
                <a:cs typeface="Outfit"/>
                <a:sym typeface="Outfit"/>
              </a:rPr>
              <a:t>Project Concluded Successfully</a:t>
            </a:r>
            <a:endParaRPr/>
          </a:p>
        </p:txBody>
      </p:sp>
      <p:sp>
        <p:nvSpPr>
          <p:cNvPr id="424" name="Google Shape;424;p22"/>
          <p:cNvSpPr txBox="1"/>
          <p:nvPr/>
        </p:nvSpPr>
        <p:spPr>
          <a:xfrm>
            <a:off x="2286000" y="2962275"/>
            <a:ext cx="76200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Library Management System successfully fulfills all objectives by providing a robust, scalable, and secure application using the </a:t>
            </a:r>
            <a:r>
              <a:rPr lang="en-US" sz="2100" b="0" i="0" u="none" strike="noStrike" cap="none">
                <a:solidFill>
                  <a:srgbClr val="EA2D2E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Java &amp; Spring Boot</a:t>
            </a:r>
            <a:r>
              <a:rPr lang="en-US" sz="21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ecosystem.</a:t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295275" y="5133975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6366F1"/>
                </a:solidFill>
                <a:latin typeface="Outfit"/>
                <a:ea typeface="Outfit"/>
                <a:cs typeface="Outfit"/>
                <a:sym typeface="Outfit"/>
              </a:rPr>
              <a:t>Questions &amp; Answers</a:t>
            </a:r>
            <a:endParaRPr/>
          </a:p>
        </p:txBody>
      </p:sp>
      <p:sp>
        <p:nvSpPr>
          <p:cNvPr id="426" name="Google Shape;426;p22"/>
          <p:cNvSpPr txBox="1"/>
          <p:nvPr/>
        </p:nvSpPr>
        <p:spPr>
          <a:xfrm>
            <a:off x="2286000" y="5728075"/>
            <a:ext cx="7620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 for attending this presentation.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641</Words>
  <Application>Microsoft Office PowerPoint</Application>
  <PresentationFormat>Widescreen</PresentationFormat>
  <Paragraphs>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Plus Jakarta Sans Medium</vt:lpstr>
      <vt:lpstr>Outfit</vt:lpstr>
      <vt:lpstr>Plus Jakarta Sans ExtraBold</vt:lpstr>
      <vt:lpstr>Outfit ExtraBold</vt:lpstr>
      <vt:lpstr>Plus Jakarta Sans</vt:lpstr>
      <vt:lpstr>Arial</vt:lpstr>
      <vt:lpstr>Plus Jakarta Sans SemiBold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Killshot</cp:lastModifiedBy>
  <cp:revision>1</cp:revision>
  <dcterms:modified xsi:type="dcterms:W3CDTF">2026-09-04T07:32:43Z</dcterms:modified>
</cp:coreProperties>
</file>