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lus Jakarta Sans ExtraBold"/>
      <p:bold r:id="rId18"/>
      <p:boldItalic r:id="rId19"/>
    </p:embeddedFont>
    <p:embeddedFont>
      <p:font typeface="Outfit ExtraBold"/>
      <p:bold r:id="rId20"/>
    </p:embeddedFont>
    <p:embeddedFont>
      <p:font typeface="Plus Jakarta Sans"/>
      <p:regular r:id="rId21"/>
      <p:bold r:id="rId22"/>
      <p:italic r:id="rId23"/>
      <p:boldItalic r:id="rId24"/>
    </p:embeddedFont>
    <p:embeddedFont>
      <p:font typeface="Plus Jakarta Sans SemiBold"/>
      <p:regular r:id="rId25"/>
      <p:bold r:id="rId26"/>
      <p:italic r:id="rId27"/>
      <p:boldItalic r:id="rId28"/>
    </p:embeddedFont>
    <p:embeddedFont>
      <p:font typeface="Outfit"/>
      <p:regular r:id="rId29"/>
      <p:bold r:id="rId30"/>
    </p:embeddedFont>
    <p:embeddedFont>
      <p:font typeface="Plus Jakarta Sans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0A3FF8-9BF1-4F01-A221-62A787BBE40C}">
  <a:tblStyle styleId="{5D0A3FF8-9BF1-4F01-A221-62A787BBE40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ExtraBold-bold.fntdata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SemiBold-bold.fntdata"/><Relationship Id="rId25" Type="http://schemas.openxmlformats.org/officeDocument/2006/relationships/font" Target="fonts/PlusJakartaSansSemiBold-regular.fntdata"/><Relationship Id="rId28" Type="http://schemas.openxmlformats.org/officeDocument/2006/relationships/font" Target="fonts/PlusJakartaSansSemiBold-boldItalic.fntdata"/><Relationship Id="rId27" Type="http://schemas.openxmlformats.org/officeDocument/2006/relationships/font" Target="fonts/PlusJakartaSans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utfi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Medium-regular.fntdata"/><Relationship Id="rId30" Type="http://schemas.openxmlformats.org/officeDocument/2006/relationships/font" Target="fonts/Outfit-bold.fntdata"/><Relationship Id="rId11" Type="http://schemas.openxmlformats.org/officeDocument/2006/relationships/slide" Target="slides/slide5.xml"/><Relationship Id="rId33" Type="http://schemas.openxmlformats.org/officeDocument/2006/relationships/font" Target="fonts/PlusJakartaSansMedium-italic.fntdata"/><Relationship Id="rId10" Type="http://schemas.openxmlformats.org/officeDocument/2006/relationships/slide" Target="slides/slide4.xml"/><Relationship Id="rId32" Type="http://schemas.openxmlformats.org/officeDocument/2006/relationships/font" Target="fonts/PlusJakartaSans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PlusJakartaSans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ExtraBold-boldItalic.fntdata"/><Relationship Id="rId18" Type="http://schemas.openxmlformats.org/officeDocument/2006/relationships/font" Target="fonts/PlusJakart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32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35.png"/><Relationship Id="rId8" Type="http://schemas.openxmlformats.org/officeDocument/2006/relationships/image" Target="../media/image4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38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10" Type="http://schemas.openxmlformats.org/officeDocument/2006/relationships/image" Target="../media/image18.png"/><Relationship Id="rId9" Type="http://schemas.openxmlformats.org/officeDocument/2006/relationships/image" Target="../media/image39.png"/><Relationship Id="rId5" Type="http://schemas.openxmlformats.org/officeDocument/2006/relationships/image" Target="../media/image19.png"/><Relationship Id="rId6" Type="http://schemas.openxmlformats.org/officeDocument/2006/relationships/image" Target="../media/image85.jpg"/><Relationship Id="rId7" Type="http://schemas.openxmlformats.org/officeDocument/2006/relationships/image" Target="../media/image22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11" Type="http://schemas.openxmlformats.org/officeDocument/2006/relationships/image" Target="../media/image27.png"/><Relationship Id="rId10" Type="http://schemas.openxmlformats.org/officeDocument/2006/relationships/image" Target="../media/image24.png"/><Relationship Id="rId9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46.png"/><Relationship Id="rId13" Type="http://schemas.openxmlformats.org/officeDocument/2006/relationships/image" Target="../media/image37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9" Type="http://schemas.openxmlformats.org/officeDocument/2006/relationships/image" Target="../media/image84.png"/><Relationship Id="rId15" Type="http://schemas.openxmlformats.org/officeDocument/2006/relationships/image" Target="../media/image63.png"/><Relationship Id="rId14" Type="http://schemas.openxmlformats.org/officeDocument/2006/relationships/image" Target="../media/image33.png"/><Relationship Id="rId16" Type="http://schemas.openxmlformats.org/officeDocument/2006/relationships/image" Target="../media/image36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34.png"/><Relationship Id="rId8" Type="http://schemas.openxmlformats.org/officeDocument/2006/relationships/image" Target="../media/image57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7.png"/><Relationship Id="rId1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0.png"/><Relationship Id="rId9" Type="http://schemas.openxmlformats.org/officeDocument/2006/relationships/image" Target="../media/image82.png"/><Relationship Id="rId5" Type="http://schemas.openxmlformats.org/officeDocument/2006/relationships/image" Target="../media/image41.png"/><Relationship Id="rId6" Type="http://schemas.openxmlformats.org/officeDocument/2006/relationships/image" Target="../media/image43.png"/><Relationship Id="rId7" Type="http://schemas.openxmlformats.org/officeDocument/2006/relationships/image" Target="../media/image42.png"/><Relationship Id="rId8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51.png"/><Relationship Id="rId1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Relationship Id="rId5" Type="http://schemas.openxmlformats.org/officeDocument/2006/relationships/image" Target="../media/image47.png"/><Relationship Id="rId6" Type="http://schemas.openxmlformats.org/officeDocument/2006/relationships/image" Target="../media/image74.png"/><Relationship Id="rId7" Type="http://schemas.openxmlformats.org/officeDocument/2006/relationships/image" Target="../media/image53.png"/><Relationship Id="rId8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33.png"/><Relationship Id="rId11" Type="http://schemas.openxmlformats.org/officeDocument/2006/relationships/image" Target="../media/image65.png"/><Relationship Id="rId10" Type="http://schemas.openxmlformats.org/officeDocument/2006/relationships/image" Target="../media/image64.png"/><Relationship Id="rId13" Type="http://schemas.openxmlformats.org/officeDocument/2006/relationships/image" Target="../media/image60.png"/><Relationship Id="rId1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54.png"/><Relationship Id="rId9" Type="http://schemas.openxmlformats.org/officeDocument/2006/relationships/image" Target="../media/image72.png"/><Relationship Id="rId15" Type="http://schemas.openxmlformats.org/officeDocument/2006/relationships/image" Target="../media/image83.png"/><Relationship Id="rId14" Type="http://schemas.openxmlformats.org/officeDocument/2006/relationships/image" Target="../media/image80.png"/><Relationship Id="rId17" Type="http://schemas.openxmlformats.org/officeDocument/2006/relationships/image" Target="../media/image62.png"/><Relationship Id="rId16" Type="http://schemas.openxmlformats.org/officeDocument/2006/relationships/image" Target="../media/image76.png"/><Relationship Id="rId5" Type="http://schemas.openxmlformats.org/officeDocument/2006/relationships/image" Target="../media/image55.png"/><Relationship Id="rId19" Type="http://schemas.openxmlformats.org/officeDocument/2006/relationships/image" Target="../media/image36.png"/><Relationship Id="rId6" Type="http://schemas.openxmlformats.org/officeDocument/2006/relationships/image" Target="../media/image56.png"/><Relationship Id="rId18" Type="http://schemas.openxmlformats.org/officeDocument/2006/relationships/image" Target="../media/image37.png"/><Relationship Id="rId7" Type="http://schemas.openxmlformats.org/officeDocument/2006/relationships/image" Target="../media/image58.png"/><Relationship Id="rId8" Type="http://schemas.openxmlformats.org/officeDocument/2006/relationships/image" Target="../media/image6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9.png"/><Relationship Id="rId5" Type="http://schemas.openxmlformats.org/officeDocument/2006/relationships/image" Target="../media/image7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8.png"/><Relationship Id="rId5" Type="http://schemas.openxmlformats.org/officeDocument/2006/relationships/image" Target="../media/image67.png"/><Relationship Id="rId6" Type="http://schemas.openxmlformats.org/officeDocument/2006/relationships/image" Target="../media/image66.png"/><Relationship Id="rId7" Type="http://schemas.openxmlformats.org/officeDocument/2006/relationships/image" Target="../media/image81.png"/><Relationship Id="rId8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1450" y="3710880"/>
            <a:ext cx="42291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2900" y="4701480"/>
            <a:ext cx="38862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9575" y="385375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810125" y="4901505"/>
            <a:ext cx="1114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Karan Tiwari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477000" y="4901505"/>
            <a:ext cx="1171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August 2026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43425" y="49491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0300" y="49491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14825" y="1470719"/>
            <a:ext cx="35623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380410" y="2127944"/>
            <a:ext cx="9431178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Library Management System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328987" y="3110805"/>
            <a:ext cx="55340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 Java Programming (MCS-313) Final Assignment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2762" y="1362075"/>
            <a:ext cx="4757737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5775"/>
            <a:ext cx="528637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571500" y="1995487"/>
            <a:ext cx="5815012" cy="1000125"/>
          </a:xfrm>
          <a:prstGeom prst="roundRect">
            <a:avLst>
              <a:gd fmla="val 11428" name="adj"/>
            </a:avLst>
          </a:prstGeom>
          <a:solidFill>
            <a:srgbClr val="FEF2F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466850" y="2185987"/>
            <a:ext cx="469106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Operations: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Handling catalogs, members, and book loans manually is slow and error-prone.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298608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1500" y="199548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1995487"/>
            <a:ext cx="57150" cy="10001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376987" y="1995487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71500" y="3148012"/>
            <a:ext cx="5815012" cy="1000125"/>
          </a:xfrm>
          <a:prstGeom prst="roundRect">
            <a:avLst>
              <a:gd fmla="val 11428" name="adj"/>
            </a:avLst>
          </a:prstGeom>
          <a:solidFill>
            <a:srgbClr val="FEF2F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466850" y="3338512"/>
            <a:ext cx="469106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Tracking Failures: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Librarians struggle to track overdue books and generate accurate data reports.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4138612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71500" y="3148012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571500" y="3148012"/>
            <a:ext cx="57150" cy="10001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76987" y="3148012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71500" y="4300537"/>
            <a:ext cx="5815012" cy="1000125"/>
          </a:xfrm>
          <a:prstGeom prst="roundRect">
            <a:avLst>
              <a:gd fmla="val 11428" name="adj"/>
            </a:avLst>
          </a:prstGeom>
          <a:solidFill>
            <a:srgbClr val="FEF2F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466850" y="4491037"/>
            <a:ext cx="469106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Poor Experience: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Lack of automation leads to lost inventory, delayed alerts, and frustrated members.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571500" y="529113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571500" y="430053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571500" y="4300537"/>
            <a:ext cx="57150" cy="10001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376987" y="4300537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2762" y="1362075"/>
            <a:ext cx="4757737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571500" y="298608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571500" y="4138612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71500" y="529113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371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3524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46767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1252537" y="476250"/>
            <a:ext cx="108863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Overview: The 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5775"/>
            <a:ext cx="528637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/>
          <p:nvPr/>
        </p:nvSpPr>
        <p:spPr>
          <a:xfrm>
            <a:off x="1333500" y="1362075"/>
            <a:ext cx="9525000" cy="1000125"/>
          </a:xfrm>
          <a:prstGeom prst="roundRect">
            <a:avLst>
              <a:gd fmla="val 11428" name="adj"/>
            </a:avLst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2200275" y="1552575"/>
            <a:ext cx="8429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 Operations: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Streamline daily tasks including catalog management and circulation workflows.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1333500" y="23526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333500" y="13620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333500" y="1362075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0848975" y="1362075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333500" y="2514600"/>
            <a:ext cx="9525000" cy="1000125"/>
          </a:xfrm>
          <a:prstGeom prst="roundRect">
            <a:avLst>
              <a:gd fmla="val 11428" name="adj"/>
            </a:avLst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2228850" y="2705100"/>
            <a:ext cx="840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Access: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Implement a strict, role-based system for Administrators, Librarians, and Members.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1333500" y="35052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1333500" y="25146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333500" y="2514600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0848975" y="251460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1333500" y="3667125"/>
            <a:ext cx="9525000" cy="1000125"/>
          </a:xfrm>
          <a:prstGeom prst="roundRect">
            <a:avLst>
              <a:gd fmla="val 11428" name="adj"/>
            </a:avLst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2200275" y="3857625"/>
            <a:ext cx="8429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Tracking: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Implement automated tracking for book loans and overdue email notifications.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1333500" y="465772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1333500" y="366712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1333500" y="3667125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10848975" y="3667125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1333500" y="4819650"/>
            <a:ext cx="9525000" cy="714375"/>
          </a:xfrm>
          <a:prstGeom prst="roundRect">
            <a:avLst>
              <a:gd fmla="val 16000" name="adj"/>
            </a:avLst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2257425" y="5010150"/>
            <a:ext cx="8372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Analysis: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Generate exportable PDF and CSV reports for administrative review.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1333500" y="55245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1333500" y="481965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1333500" y="4819650"/>
            <a:ext cx="57150" cy="7143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10848975" y="4819650"/>
            <a:ext cx="9525" cy="7143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333500" y="5686425"/>
            <a:ext cx="9525000" cy="714375"/>
          </a:xfrm>
          <a:prstGeom prst="roundRect">
            <a:avLst>
              <a:gd fmla="val 16000" name="adj"/>
            </a:avLst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2200275" y="5876925"/>
            <a:ext cx="8429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Integrity: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Maintain a strict activity audit log and provide a clean frontend interface.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1333500" y="63912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1333500" y="568642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333500" y="5686425"/>
            <a:ext cx="57150" cy="7143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10848975" y="5686425"/>
            <a:ext cx="9525" cy="7143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333500" y="23526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1333500" y="35052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333500" y="465772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1333500" y="55245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1333500" y="63912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9250" y="17383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19250" y="2890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9250" y="40433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9250" y="50530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19250" y="59197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5"/>
          <p:cNvSpPr txBox="1"/>
          <p:nvPr/>
        </p:nvSpPr>
        <p:spPr>
          <a:xfrm>
            <a:off x="1252537" y="476250"/>
            <a:ext cx="108863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Overview: Project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2762" y="1362075"/>
            <a:ext cx="4757737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5775"/>
            <a:ext cx="566737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/>
          <p:nvPr/>
        </p:nvSpPr>
        <p:spPr>
          <a:xfrm>
            <a:off x="571500" y="1419225"/>
            <a:ext cx="5815012" cy="1000125"/>
          </a:xfrm>
          <a:prstGeom prst="roundRect">
            <a:avLst>
              <a:gd fmla="val 11428" name="adj"/>
            </a:avLst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409700" y="1609725"/>
            <a:ext cx="474821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Presentation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HTML &amp; TailwindCSS frontend interacting via REST APIs (JSON).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571500" y="24098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71500" y="14192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571500" y="1419225"/>
            <a:ext cx="57150" cy="1000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6376987" y="1419225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571500" y="2571750"/>
            <a:ext cx="5815012" cy="1000125"/>
          </a:xfrm>
          <a:prstGeom prst="roundRect">
            <a:avLst>
              <a:gd fmla="val 11428" name="adj"/>
            </a:avLst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1524000" y="2762250"/>
            <a:ext cx="463391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Controller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b="0" i="0" lang="en-US" sz="1500" u="none" cap="none" strike="noStrik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Spring MVC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REST Controllers handle HTTP requests and validation.</a:t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571500" y="356235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571500" y="257175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571500" y="2571750"/>
            <a:ext cx="57150" cy="1000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6376987" y="257175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571500" y="3724275"/>
            <a:ext cx="5815012" cy="1000125"/>
          </a:xfrm>
          <a:prstGeom prst="roundRect">
            <a:avLst>
              <a:gd fmla="val 11428" name="adj"/>
            </a:avLst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1524000" y="3914775"/>
            <a:ext cx="463391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Contains core </a:t>
            </a:r>
            <a:r>
              <a:rPr b="0" i="0" lang="en-US" sz="1500" u="none" cap="none" strike="noStrik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Java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business logic and transaction management.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571500" y="47148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571500" y="37242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571500" y="3724275"/>
            <a:ext cx="57150" cy="1000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6376987" y="3724275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571500" y="4876800"/>
            <a:ext cx="5815012" cy="1000125"/>
          </a:xfrm>
          <a:prstGeom prst="roundRect">
            <a:avLst>
              <a:gd fmla="val 11428" name="adj"/>
            </a:avLst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1466850" y="5067300"/>
            <a:ext cx="469106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Access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b="0" i="0" lang="en-US" sz="1500" u="none" cap="none" strike="noStrik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Spring Data JPA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repositories interfacing with the relational database.</a:t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571500" y="58674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571500" y="48768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571500" y="4876800"/>
            <a:ext cx="57150" cy="1000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6376987" y="487680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6" title="Gemini_Generated_Image_9ncxc99ncxc99ncx.jpeg"/>
          <p:cNvPicPr preferRelativeResize="0"/>
          <p:nvPr/>
        </p:nvPicPr>
        <p:blipFill rotWithShape="1">
          <a:blip r:embed="rId6">
            <a:alphaModFix/>
          </a:blip>
          <a:srcRect b="1951" l="0" r="0" t="1951"/>
          <a:stretch/>
        </p:blipFill>
        <p:spPr>
          <a:xfrm>
            <a:off x="6862762" y="1362075"/>
            <a:ext cx="4757740" cy="457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/>
          <p:nvPr/>
        </p:nvSpPr>
        <p:spPr>
          <a:xfrm>
            <a:off x="571500" y="24098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571500" y="356235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571500" y="47148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71500" y="58674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1800225"/>
            <a:ext cx="171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29479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41005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" y="52530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6"/>
          <p:cNvSpPr txBox="1"/>
          <p:nvPr/>
        </p:nvSpPr>
        <p:spPr>
          <a:xfrm>
            <a:off x="1290637" y="476250"/>
            <a:ext cx="1084635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Spring Boot Architecture Design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2075"/>
            <a:ext cx="1104900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5775"/>
            <a:ext cx="528637" cy="533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17"/>
          <p:cNvGraphicFramePr/>
          <p:nvPr/>
        </p:nvGraphicFramePr>
        <p:xfrm>
          <a:off x="581025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{5D0A3FF8-9BF1-4F01-A221-62A787BBE40C}</a:tableStyleId>
              </a:tblPr>
              <a:tblGrid>
                <a:gridCol w="2757475"/>
                <a:gridCol w="8272450"/>
              </a:tblGrid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Entity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Attributes &amp; Relationships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USER /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username, password, email, fullName </a:t>
                      </a: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|</a:t>
                      </a: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role_name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email, fullName, phone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BOOK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title, isbn, publicationYear FK: author_id FK: category_id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AUTHOR /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name, bio </a:t>
                      </a: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|</a:t>
                      </a: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name, 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loanDate, dueDate, status FK: book_id FK: member_id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AUDIT_LOG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action, username, timestamp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17"/>
          <p:cNvSpPr/>
          <p:nvPr/>
        </p:nvSpPr>
        <p:spPr>
          <a:xfrm>
            <a:off x="581025" y="1924050"/>
            <a:ext cx="275748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3338512" y="1924050"/>
            <a:ext cx="827246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581025" y="25098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3338512" y="25098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581025" y="30813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3338512" y="30813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581025" y="36528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3338512" y="36528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581025" y="42243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3338512" y="42243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581025" y="47958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3338512" y="47958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581025" y="53673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3338512" y="53673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67112" y="2124075"/>
            <a:ext cx="561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7112" y="2695575"/>
            <a:ext cx="561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7112" y="3267075"/>
            <a:ext cx="561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6037" y="3267075"/>
            <a:ext cx="1038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39037" y="3267075"/>
            <a:ext cx="12096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7112" y="3838575"/>
            <a:ext cx="561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7112" y="4410075"/>
            <a:ext cx="561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4612" y="4410075"/>
            <a:ext cx="952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81887" y="4410075"/>
            <a:ext cx="11715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7112" y="4981575"/>
            <a:ext cx="5619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7"/>
          <p:cNvSpPr txBox="1"/>
          <p:nvPr/>
        </p:nvSpPr>
        <p:spPr>
          <a:xfrm>
            <a:off x="1252537" y="476250"/>
            <a:ext cx="108863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Database Design (Normalized Schema)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2075"/>
            <a:ext cx="3492400" cy="3662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362075"/>
            <a:ext cx="3492549" cy="3662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362075"/>
            <a:ext cx="3492400" cy="3662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5775"/>
            <a:ext cx="566737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704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8"/>
          <p:cNvSpPr txBox="1"/>
          <p:nvPr/>
        </p:nvSpPr>
        <p:spPr>
          <a:xfrm>
            <a:off x="1438275" y="1785937"/>
            <a:ext cx="20302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Catalog &amp; Access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1085850" y="2533650"/>
            <a:ext cx="27304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CRUD: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Manage Books, Authors, Categories, and Members.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085850" y="3367682"/>
            <a:ext cx="27304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Search: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Pagination &amp; </a:t>
            </a:r>
            <a:r>
              <a:rPr b="0" i="0" lang="en-US" sz="1350" u="none" cap="none" strike="noStrik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Spring Data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filtering.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1085850" y="3961804"/>
            <a:ext cx="27304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JWT-based login with </a:t>
            </a:r>
            <a:r>
              <a:rPr b="0" i="0" lang="en-US" sz="1350" u="none" cap="none" strike="noStrik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Spring Security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Role-Based Access.</a:t>
            </a:r>
            <a:endParaRPr/>
          </a:p>
        </p:txBody>
      </p:sp>
      <p:pic>
        <p:nvPicPr>
          <p:cNvPr descr="image.png" id="263" name="Google Shape;26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7300" y="1704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 txBox="1"/>
          <p:nvPr/>
        </p:nvSpPr>
        <p:spPr>
          <a:xfrm>
            <a:off x="5216425" y="1785937"/>
            <a:ext cx="13201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A3412"/>
                </a:solidFill>
                <a:latin typeface="Outfit"/>
                <a:ea typeface="Outfit"/>
                <a:cs typeface="Outfit"/>
                <a:sym typeface="Outfit"/>
              </a:rPr>
              <a:t>Circulation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4864000" y="2533650"/>
            <a:ext cx="273054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Loan Management: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Accurately tracks borrowed books in real-time.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4864000" y="3367682"/>
            <a:ext cx="273054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Scheduling: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Identifies overdue status using </a:t>
            </a:r>
            <a:r>
              <a:rPr b="0" i="0" lang="en-US" sz="1350" u="none" cap="none" strike="noStrik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@Scheduled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4864000" y="4201715"/>
            <a:ext cx="273054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Email Alerts: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Notifies members when books are overdue.</a:t>
            </a:r>
            <a:endParaRPr/>
          </a:p>
        </p:txBody>
      </p:sp>
      <p:pic>
        <p:nvPicPr>
          <p:cNvPr descr="image.png" id="268" name="Google Shape;26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75600" y="1704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8"/>
          <p:cNvSpPr txBox="1"/>
          <p:nvPr/>
        </p:nvSpPr>
        <p:spPr>
          <a:xfrm>
            <a:off x="8994725" y="1785937"/>
            <a:ext cx="1800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5F46"/>
                </a:solidFill>
                <a:latin typeface="Outfit"/>
                <a:ea typeface="Outfit"/>
                <a:cs typeface="Outfit"/>
                <a:sym typeface="Outfit"/>
              </a:rPr>
              <a:t>Administration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8642300" y="2533650"/>
            <a:ext cx="27304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Exporting: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Generate Loan data (PDF) and Book data (CSV).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8642300" y="3127771"/>
            <a:ext cx="27304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 Logging: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Tracks all actions using </a:t>
            </a:r>
            <a:r>
              <a:rPr b="0" i="0" lang="en-US" sz="1350" u="none" cap="none" strike="noStrik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Spring AOP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8642300" y="3721893"/>
            <a:ext cx="27304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Integrity: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Transparent tracking of librarian workflows.</a:t>
            </a:r>
            <a:endParaRPr/>
          </a:p>
        </p:txBody>
      </p:sp>
      <p:pic>
        <p:nvPicPr>
          <p:cNvPr descr="image.png" id="273" name="Google Shape;273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4875" y="180975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02075" y="18097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8"/>
          <p:cNvSpPr txBox="1"/>
          <p:nvPr/>
        </p:nvSpPr>
        <p:spPr>
          <a:xfrm>
            <a:off x="1290637" y="476250"/>
            <a:ext cx="1084635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Features Implemented</a:t>
            </a:r>
            <a:endParaRPr/>
          </a:p>
        </p:txBody>
      </p:sp>
      <p:pic>
        <p:nvPicPr>
          <p:cNvPr descr="image.png" id="276" name="Google Shape;276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9150" y="255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9150" y="33867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9150" y="398085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97300" y="255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97300" y="33867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97300" y="42207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61325" y="180975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375600" y="255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375600" y="314682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375600" y="3740943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2075"/>
            <a:ext cx="35242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362075"/>
            <a:ext cx="35242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362075"/>
            <a:ext cx="35242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1371600"/>
            <a:ext cx="3505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43400" y="1371600"/>
            <a:ext cx="3505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5775" y="1371600"/>
            <a:ext cx="3505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5775"/>
            <a:ext cx="604837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9" title="admin logged in.png"/>
          <p:cNvPicPr preferRelativeResize="0"/>
          <p:nvPr/>
        </p:nvPicPr>
        <p:blipFill rotWithShape="1">
          <a:blip r:embed="rId9">
            <a:alphaModFix/>
          </a:blip>
          <a:srcRect b="0" l="-1315" r="33532" t="0"/>
          <a:stretch/>
        </p:blipFill>
        <p:spPr>
          <a:xfrm>
            <a:off x="581025" y="1371600"/>
            <a:ext cx="3505199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9"/>
          <p:cNvSpPr txBox="1"/>
          <p:nvPr/>
        </p:nvSpPr>
        <p:spPr>
          <a:xfrm>
            <a:off x="693419" y="3848100"/>
            <a:ext cx="3280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Admin Dashboard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771525" y="4191000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High-level overview of system metrics and recent library activity.</a:t>
            </a:r>
            <a:endParaRPr/>
          </a:p>
        </p:txBody>
      </p:sp>
      <p:pic>
        <p:nvPicPr>
          <p:cNvPr id="301" name="Google Shape;301;p19" title="librarian logged in.png"/>
          <p:cNvPicPr preferRelativeResize="0"/>
          <p:nvPr/>
        </p:nvPicPr>
        <p:blipFill rotWithShape="1">
          <a:blip r:embed="rId10">
            <a:alphaModFix/>
          </a:blip>
          <a:srcRect b="0" l="0" r="32304" t="0"/>
          <a:stretch/>
        </p:blipFill>
        <p:spPr>
          <a:xfrm>
            <a:off x="4343400" y="1371600"/>
            <a:ext cx="3505201" cy="227647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4455795" y="3848100"/>
            <a:ext cx="3280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Member Catalog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4533900" y="4191000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user view for browsing categories and tracking personal loans.</a:t>
            </a:r>
            <a:endParaRPr/>
          </a:p>
        </p:txBody>
      </p:sp>
      <p:pic>
        <p:nvPicPr>
          <p:cNvPr id="304" name="Google Shape;304;p19" title="swagger ui api.png"/>
          <p:cNvPicPr preferRelativeResize="0"/>
          <p:nvPr/>
        </p:nvPicPr>
        <p:blipFill rotWithShape="1">
          <a:blip r:embed="rId11">
            <a:alphaModFix/>
          </a:blip>
          <a:srcRect b="0" l="0" r="33382" t="0"/>
          <a:stretch/>
        </p:blipFill>
        <p:spPr>
          <a:xfrm>
            <a:off x="8105775" y="1371600"/>
            <a:ext cx="3505199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9"/>
          <p:cNvSpPr txBox="1"/>
          <p:nvPr/>
        </p:nvSpPr>
        <p:spPr>
          <a:xfrm>
            <a:off x="8218170" y="3848100"/>
            <a:ext cx="3280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API Documentation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8296275" y="4191000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Swagger UI interface for testing backend REST endpoints.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1328737" y="476250"/>
            <a:ext cx="108063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Demonstration Screenshots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5775"/>
            <a:ext cx="528637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/>
          <p:nvPr/>
        </p:nvSpPr>
        <p:spPr>
          <a:xfrm>
            <a:off x="571500" y="1790700"/>
            <a:ext cx="5815012" cy="771525"/>
          </a:xfrm>
          <a:prstGeom prst="roundRect">
            <a:avLst>
              <a:gd fmla="val 14814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571500" y="2714625"/>
            <a:ext cx="5815012" cy="714375"/>
          </a:xfrm>
          <a:prstGeom prst="roundRect">
            <a:avLst>
              <a:gd fmla="val 16000" name="adj"/>
            </a:avLst>
          </a:prstGeom>
          <a:solidFill>
            <a:srgbClr val="FEF2F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1524000" y="2905125"/>
            <a:ext cx="46339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Framework: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b="1" i="0" lang="en-US" sz="1500" u="none" cap="none" strike="noStrike">
                <a:solidFill>
                  <a:srgbClr val="EA2D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Java 17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&amp; </a:t>
            </a:r>
            <a:r>
              <a:rPr b="1" i="0" lang="en-US" sz="1500" u="none" cap="none" strike="noStrike">
                <a:solidFill>
                  <a:srgbClr val="6DB3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Spring Boot 3.x</a:t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571500" y="34194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571500" y="27146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571500" y="2714625"/>
            <a:ext cx="57150" cy="7143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6376987" y="2714625"/>
            <a:ext cx="9525" cy="7143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571500" y="3581400"/>
            <a:ext cx="5815012" cy="714375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1438275" y="3771900"/>
            <a:ext cx="47196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Spring Data JPA, Hibernate, MySQL, H2</a:t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571500" y="428625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571500" y="35814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571500" y="3581400"/>
            <a:ext cx="57150" cy="7143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6376987" y="3581400"/>
            <a:ext cx="9525" cy="7143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571500" y="4448175"/>
            <a:ext cx="5815012" cy="714375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1438275" y="4638675"/>
            <a:ext cx="47196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Spring Security &amp; JSON Web Tokens (JWT)</a:t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571500" y="51530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571500" y="44481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71500" y="4448175"/>
            <a:ext cx="57150" cy="7143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6376987" y="4448175"/>
            <a:ext cx="9525" cy="7143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6862762" y="1362075"/>
            <a:ext cx="4757737" cy="771525"/>
          </a:xfrm>
          <a:prstGeom prst="roundRect">
            <a:avLst>
              <a:gd fmla="val 14814" name="adj"/>
            </a:avLst>
          </a:prstGeom>
          <a:solidFill>
            <a:srgbClr val="FFED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6862762" y="2286000"/>
            <a:ext cx="4757737" cy="1000125"/>
          </a:xfrm>
          <a:prstGeom prst="roundRect">
            <a:avLst>
              <a:gd fmla="val 11428" name="adj"/>
            </a:avLst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7786687" y="2476500"/>
            <a:ext cx="360521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HTML5, Vanilla JavaScript, TailwindCSS</a:t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6862762" y="327660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6862762" y="228600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6862762" y="2286000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11610975" y="228600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6862762" y="3438525"/>
            <a:ext cx="4757737" cy="1000125"/>
          </a:xfrm>
          <a:prstGeom prst="roundRect">
            <a:avLst>
              <a:gd fmla="val 11428" name="adj"/>
            </a:avLst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7758112" y="3629025"/>
            <a:ext cx="3633787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OpenPDF (PDF Export), OpenCSV (CSV Export)</a:t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6862762" y="442912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6862762" y="343852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6862762" y="3438525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11610975" y="3438525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862762" y="4591050"/>
            <a:ext cx="4757737" cy="1000125"/>
          </a:xfrm>
          <a:prstGeom prst="roundRect">
            <a:avLst>
              <a:gd fmla="val 11428" name="adj"/>
            </a:avLst>
          </a:prstGeom>
          <a:solidFill>
            <a:srgbClr val="ECFD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7729537" y="4781550"/>
            <a:ext cx="366236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Spring Mail (Emails), Swagger UI (Docs), Maven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6862762" y="558165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6862762" y="459105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6862762" y="4591050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11610975" y="459105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571500" y="25527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571500" y="25527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571500" y="17907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6376987" y="1790700"/>
            <a:ext cx="9525" cy="771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 txBox="1"/>
          <p:nvPr/>
        </p:nvSpPr>
        <p:spPr>
          <a:xfrm>
            <a:off x="2455068" y="1990725"/>
            <a:ext cx="26003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91C1C"/>
                </a:solidFill>
                <a:latin typeface="Outfit"/>
                <a:ea typeface="Outfit"/>
                <a:cs typeface="Outfit"/>
                <a:sym typeface="Outfit"/>
              </a:rPr>
              <a:t> Java Backend Core</a:t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571500" y="34194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571500" y="428625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571500" y="51530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6862762" y="212407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6862762" y="212407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862762" y="136207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11610975" y="1362075"/>
            <a:ext cx="9525" cy="771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8208168" y="1562100"/>
            <a:ext cx="262032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A3412"/>
                </a:solidFill>
                <a:latin typeface="Outfit"/>
                <a:ea typeface="Outfit"/>
                <a:cs typeface="Outfit"/>
                <a:sym typeface="Outfit"/>
              </a:rPr>
              <a:t> Frontend &amp; Utilities</a:t>
            </a:r>
            <a:endParaRPr/>
          </a:p>
        </p:txBody>
      </p:sp>
      <p:sp>
        <p:nvSpPr>
          <p:cNvPr id="365" name="Google Shape;365;p20"/>
          <p:cNvSpPr/>
          <p:nvPr/>
        </p:nvSpPr>
        <p:spPr>
          <a:xfrm>
            <a:off x="6862762" y="327660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6862762" y="442912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6862762" y="558165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8" name="Google Shape;3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5068" y="206692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9479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38147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46815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08168" y="163830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48512" y="26622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48512" y="3814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48512" y="49672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0"/>
          <p:cNvSpPr txBox="1"/>
          <p:nvPr/>
        </p:nvSpPr>
        <p:spPr>
          <a:xfrm>
            <a:off x="1252537" y="476250"/>
            <a:ext cx="108863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Technologies Used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2075"/>
            <a:ext cx="5405437" cy="2348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362075"/>
            <a:ext cx="5405437" cy="2348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48707"/>
            <a:ext cx="5405437" cy="2348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3948707"/>
            <a:ext cx="5405437" cy="2348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5775"/>
            <a:ext cx="528637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1704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1"/>
          <p:cNvSpPr txBox="1"/>
          <p:nvPr/>
        </p:nvSpPr>
        <p:spPr>
          <a:xfrm>
            <a:off x="1438275" y="1785937"/>
            <a:ext cx="22202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581C87"/>
                </a:solidFill>
                <a:latin typeface="Outfit"/>
                <a:ea typeface="Outfit"/>
                <a:cs typeface="Outfit"/>
                <a:sym typeface="Outfit"/>
              </a:rPr>
              <a:t>Mobile Application</a:t>
            </a:r>
            <a:endParaRPr/>
          </a:p>
        </p:txBody>
      </p:sp>
      <p:sp>
        <p:nvSpPr>
          <p:cNvPr id="389" name="Google Shape;389;p21"/>
          <p:cNvSpPr txBox="1"/>
          <p:nvPr/>
        </p:nvSpPr>
        <p:spPr>
          <a:xfrm>
            <a:off x="1085850" y="2533650"/>
            <a:ext cx="464343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 native Android and iOS applications.</a:t>
            </a:r>
            <a:endParaRPr/>
          </a:p>
        </p:txBody>
      </p:sp>
      <p:sp>
        <p:nvSpPr>
          <p:cNvPr id="390" name="Google Shape;390;p21"/>
          <p:cNvSpPr txBox="1"/>
          <p:nvPr/>
        </p:nvSpPr>
        <p:spPr>
          <a:xfrm>
            <a:off x="1085850" y="2887860"/>
            <a:ext cx="4643437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Allow members to browse catalogs and reserve books on the go.</a:t>
            </a:r>
            <a:endParaRPr/>
          </a:p>
        </p:txBody>
      </p:sp>
      <p:pic>
        <p:nvPicPr>
          <p:cNvPr descr="image.png" id="391" name="Google Shape;39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62712" y="1704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1"/>
          <p:cNvSpPr txBox="1"/>
          <p:nvPr/>
        </p:nvSpPr>
        <p:spPr>
          <a:xfrm>
            <a:off x="7081837" y="1785937"/>
            <a:ext cx="20402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Digital Payments</a:t>
            </a:r>
            <a:endParaRPr/>
          </a:p>
        </p:txBody>
      </p:sp>
      <p:sp>
        <p:nvSpPr>
          <p:cNvPr id="393" name="Google Shape;393;p21"/>
          <p:cNvSpPr txBox="1"/>
          <p:nvPr/>
        </p:nvSpPr>
        <p:spPr>
          <a:xfrm>
            <a:off x="6729412" y="2533650"/>
            <a:ext cx="464343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 secure payment gateways (Stripe/PayPal).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6729412" y="2887860"/>
            <a:ext cx="4643437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 the collection of late fees and subscription renewals.</a:t>
            </a:r>
            <a:endParaRPr/>
          </a:p>
        </p:txBody>
      </p:sp>
      <p:pic>
        <p:nvPicPr>
          <p:cNvPr descr="image.png" id="395" name="Google Shape;395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150" y="42916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 txBox="1"/>
          <p:nvPr/>
        </p:nvSpPr>
        <p:spPr>
          <a:xfrm>
            <a:off x="1438275" y="4372570"/>
            <a:ext cx="18702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5F46"/>
                </a:solidFill>
                <a:latin typeface="Outfit"/>
                <a:ea typeface="Outfit"/>
                <a:cs typeface="Outfit"/>
                <a:sym typeface="Outfit"/>
              </a:rPr>
              <a:t>RFID &amp; Barcode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1085850" y="5120282"/>
            <a:ext cx="4643437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 hardware scanners for rapid physical book checkout.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1085850" y="5714404"/>
            <a:ext cx="464343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Drastically reduce time spent at the librarian desk.</a:t>
            </a:r>
            <a:endParaRPr/>
          </a:p>
        </p:txBody>
      </p:sp>
      <p:pic>
        <p:nvPicPr>
          <p:cNvPr descr="image.png" id="399" name="Google Shape;399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62712" y="42916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1"/>
          <p:cNvSpPr txBox="1"/>
          <p:nvPr/>
        </p:nvSpPr>
        <p:spPr>
          <a:xfrm>
            <a:off x="7081837" y="4372570"/>
            <a:ext cx="254031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A3412"/>
                </a:solidFill>
                <a:latin typeface="Outfit"/>
                <a:ea typeface="Outfit"/>
                <a:cs typeface="Outfit"/>
                <a:sym typeface="Outfit"/>
              </a:rPr>
              <a:t>AI Recommendations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6729412" y="5120282"/>
            <a:ext cx="464343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Analyze borrowing history using machine learning.</a:t>
            </a:r>
            <a:endParaRPr/>
          </a:p>
        </p:txBody>
      </p:sp>
      <p:sp>
        <p:nvSpPr>
          <p:cNvPr id="402" name="Google Shape;402;p21"/>
          <p:cNvSpPr txBox="1"/>
          <p:nvPr/>
        </p:nvSpPr>
        <p:spPr>
          <a:xfrm>
            <a:off x="6729412" y="5474493"/>
            <a:ext cx="464343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Suggest highly relevant books to members automatically.</a:t>
            </a:r>
            <a:endParaRPr/>
          </a:p>
        </p:txBody>
      </p:sp>
      <p:pic>
        <p:nvPicPr>
          <p:cNvPr descr="image.png" id="403" name="Google Shape;403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7262" y="180975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48437" y="180975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23925" y="439638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67487" y="439638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1"/>
          <p:cNvSpPr txBox="1"/>
          <p:nvPr/>
        </p:nvSpPr>
        <p:spPr>
          <a:xfrm>
            <a:off x="1252537" y="476250"/>
            <a:ext cx="108863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Future Enhancements</a:t>
            </a:r>
            <a:endParaRPr/>
          </a:p>
        </p:txBody>
      </p:sp>
      <p:pic>
        <p:nvPicPr>
          <p:cNvPr descr="image.png" id="408" name="Google Shape;408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19150" y="255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19150" y="290691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62712" y="255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62712" y="290691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19150" y="51393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19150" y="573345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462712" y="51393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462712" y="5493543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33925"/>
            <a:ext cx="11049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914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2"/>
          <p:cNvSpPr txBox="1"/>
          <p:nvPr/>
        </p:nvSpPr>
        <p:spPr>
          <a:xfrm>
            <a:off x="1565433" y="1962150"/>
            <a:ext cx="906113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1B4B"/>
                </a:solidFill>
                <a:latin typeface="Outfit"/>
                <a:ea typeface="Outfit"/>
                <a:cs typeface="Outfit"/>
                <a:sym typeface="Outfit"/>
              </a:rPr>
              <a:t>Project Concluded Successfully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2286000" y="2962275"/>
            <a:ext cx="7620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Library Management System successfully fulfills all objectives by providing a robust, scalable, and secure application using the </a:t>
            </a:r>
            <a:r>
              <a:rPr b="0" i="0" lang="en-US" sz="2100" u="none" cap="none" strike="noStrik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Java &amp; Spring Boot</a:t>
            </a:r>
            <a:r>
              <a:rPr b="0" i="0" lang="en-US" sz="21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ecosystem.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295275" y="5133975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6366F1"/>
                </a:solidFill>
                <a:latin typeface="Outfit"/>
                <a:ea typeface="Outfit"/>
                <a:cs typeface="Outfit"/>
                <a:sym typeface="Outfit"/>
              </a:rPr>
              <a:t>Questions &amp; Answers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2286000" y="5728075"/>
            <a:ext cx="762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attending this presentation.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1" name="Google Shape;4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3"/>
          <p:cNvSpPr/>
          <p:nvPr/>
        </p:nvSpPr>
        <p:spPr>
          <a:xfrm>
            <a:off x="571500" y="136207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571500" y="230505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571500" y="32480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571500" y="40195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571500" y="2295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571500" y="2295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571500" y="4781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571500" y="4781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4" name="Google Shape;44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06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 txBox="1"/>
          <p:nvPr/>
        </p:nvSpPr>
        <p:spPr>
          <a:xfrm>
            <a:off x="1666875" y="150495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https://media.istockphoto.com/id/484494166/photo/school-books-in-decay.jpg?s=612x612&amp;w=0&amp;k=20&amp;c=5ZLwVsouLndzXottMYWmeJ5mrfgFWhwy6iCupcX1JcM=</a:t>
            </a:r>
            <a:endParaRPr/>
          </a:p>
        </p:txBody>
      </p:sp>
      <p:sp>
        <p:nvSpPr>
          <p:cNvPr id="446" name="Google Shape;446;p23"/>
          <p:cNvSpPr txBox="1"/>
          <p:nvPr/>
        </p:nvSpPr>
        <p:spPr>
          <a:xfrm>
            <a:off x="1666875" y="19240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www.istockphoto.com</a:t>
            </a:r>
            <a:endParaRPr/>
          </a:p>
        </p:txBody>
      </p:sp>
      <p:pic>
        <p:nvPicPr>
          <p:cNvPr descr="image.png" id="447" name="Google Shape;4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33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3"/>
          <p:cNvSpPr txBox="1"/>
          <p:nvPr/>
        </p:nvSpPr>
        <p:spPr>
          <a:xfrm>
            <a:off x="1666875" y="244792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https://stg-uploads.slidenest.com/template_4043/templateColor_3803/previewImages/it-network-infrastructure-powerpoint-google-slides-keynote-presentation-template-1.jpeg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1666875" y="28670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slidenest.com</a:t>
            </a:r>
            <a:endParaRPr/>
          </a:p>
        </p:txBody>
      </p:sp>
      <p:pic>
        <p:nvPicPr>
          <p:cNvPr descr="image.png" id="450" name="Google Shape;45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909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3"/>
          <p:cNvSpPr txBox="1"/>
          <p:nvPr/>
        </p:nvSpPr>
        <p:spPr>
          <a:xfrm>
            <a:off x="1666875" y="33980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https://media.easy-peasy.ai/810a45e1-0c9b-498d-a0aa-38ee610a8091/49e39538-ddd4-48b4-b775-d10b8bfc7ef8_medium.webp</a:t>
            </a:r>
            <a:endParaRPr/>
          </a:p>
        </p:txBody>
      </p:sp>
      <p:sp>
        <p:nvSpPr>
          <p:cNvPr id="452" name="Google Shape;452;p23"/>
          <p:cNvSpPr txBox="1"/>
          <p:nvPr/>
        </p:nvSpPr>
        <p:spPr>
          <a:xfrm>
            <a:off x="1666875" y="36314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easy-peasy.ai</a:t>
            </a:r>
            <a:endParaRPr/>
          </a:p>
        </p:txBody>
      </p:sp>
      <p:pic>
        <p:nvPicPr>
          <p:cNvPr descr="image.png" id="453" name="Google Shape;45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624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3"/>
          <p:cNvSpPr txBox="1"/>
          <p:nvPr/>
        </p:nvSpPr>
        <p:spPr>
          <a:xfrm>
            <a:off x="1666875" y="41695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https://www.canto.com/cdn/en/2024/05/16170345/how-to-organize-digital-photos_feature.jpg</a:t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1666875" y="44029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www.canto.com</a:t>
            </a:r>
            <a:endParaRPr/>
          </a:p>
        </p:txBody>
      </p:sp>
      <p:pic>
        <p:nvPicPr>
          <p:cNvPr descr="image.png" id="456" name="Google Shape;45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339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3"/>
          <p:cNvSpPr txBox="1"/>
          <p:nvPr/>
        </p:nvSpPr>
        <p:spPr>
          <a:xfrm>
            <a:off x="1666875" y="49410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https://www.instinctools.com/wp-content/uploads/2026/06/vibe-code-audit-cleanup-img1.webp</a:t>
            </a:r>
            <a:endParaRPr/>
          </a:p>
        </p:txBody>
      </p:sp>
      <p:sp>
        <p:nvSpPr>
          <p:cNvPr id="458" name="Google Shape;458;p23"/>
          <p:cNvSpPr txBox="1"/>
          <p:nvPr/>
        </p:nvSpPr>
        <p:spPr>
          <a:xfrm>
            <a:off x="1666875" y="51744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www.instinctools.com</a:t>
            </a:r>
            <a:endParaRPr/>
          </a:p>
        </p:txBody>
      </p:sp>
      <p:sp>
        <p:nvSpPr>
          <p:cNvPr id="459" name="Google Shape;459;p23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